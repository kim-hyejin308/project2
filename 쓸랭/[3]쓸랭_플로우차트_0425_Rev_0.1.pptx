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830" autoAdjust="0"/>
  </p:normalViewPr>
  <p:slideViewPr>
    <p:cSldViewPr snapToGrid="0" snapToObjects="1">
      <p:cViewPr>
        <p:scale>
          <a:sx n="100" d="100"/>
          <a:sy n="100" d="100"/>
        </p:scale>
        <p:origin x="-246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쓸랭 — 사용자 플로우차트 (개요)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맑은 고딕"/>
              </a:rPr>
              <a:t>메인페이지 진입 → 네비게이션 분기 → 각 메뉴별 상세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93208" y="960120"/>
            <a:ext cx="2011680" cy="43891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1F2937"/>
                </a:solidFill>
                <a:latin typeface="맑은 고딕"/>
              </a:rPr>
              <a:t>시작 (웹 진입)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24328" y="1627632"/>
            <a:ext cx="6949440" cy="80467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1F2937"/>
                </a:solidFill>
                <a:latin typeface="맑은 고딕"/>
              </a:rPr>
              <a:t>메인 페이지</a:t>
            </a:r>
          </a:p>
          <a:p>
            <a:pPr algn="ctr"/>
            <a:r>
              <a:rPr sz="950" b="1">
                <a:solidFill>
                  <a:srgbClr val="1F2937"/>
                </a:solidFill>
                <a:latin typeface="맑은 고딕"/>
              </a:rPr>
              <a:t>[ 상단 네비게이션 | 배너(이벤트/공지) | 추천 물품 리스트 ]</a:t>
            </a:r>
          </a:p>
        </p:txBody>
      </p:sp>
      <p:sp>
        <p:nvSpPr>
          <p:cNvPr id="7" name="Diamond 6"/>
          <p:cNvSpPr/>
          <p:nvPr/>
        </p:nvSpPr>
        <p:spPr>
          <a:xfrm>
            <a:off x="4590288" y="2697480"/>
            <a:ext cx="3017520" cy="74980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F2937"/>
                </a:solidFill>
                <a:latin typeface="맑은 고딕"/>
              </a:rPr>
              <a:t>네비게이션</a:t>
            </a:r>
          </a:p>
          <a:p>
            <a:pPr algn="ctr"/>
            <a:r>
              <a:rPr sz="950" b="0">
                <a:solidFill>
                  <a:srgbClr val="1F2937"/>
                </a:solidFill>
                <a:latin typeface="맑은 고딕"/>
              </a:rPr>
              <a:t>메뉴 선택?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8" y="1399032"/>
            <a:ext cx="0" cy="22860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9048" y="2432304"/>
            <a:ext cx="0" cy="265176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28600" y="3794760"/>
            <a:ext cx="17373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로그인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/회원가입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43159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dirty="0">
                <a:solidFill>
                  <a:srgbClr val="1D4ED8"/>
                </a:solidFill>
                <a:latin typeface="맑은 고딕"/>
              </a:rPr>
              <a:t>→ </a:t>
            </a:r>
            <a:r>
              <a:rPr sz="750" b="0" dirty="0" err="1">
                <a:solidFill>
                  <a:srgbClr val="1D4ED8"/>
                </a:solidFill>
                <a:latin typeface="맑은 고딕"/>
              </a:rPr>
              <a:t>슬라이드</a:t>
            </a:r>
            <a:r>
              <a:rPr sz="750" b="0" dirty="0">
                <a:solidFill>
                  <a:srgbClr val="1D4ED8"/>
                </a:solidFill>
                <a:latin typeface="맑은 고딕"/>
              </a:rPr>
              <a:t> 2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097280" y="3447288"/>
            <a:ext cx="5001768" cy="347472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240280" y="3794760"/>
            <a:ext cx="17373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물품 찾기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3159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D4ED8"/>
                </a:solidFill>
                <a:latin typeface="맑은 고딕"/>
              </a:rPr>
              <a:t>→ 슬라이드 3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108960" y="3447288"/>
            <a:ext cx="2990088" cy="347472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160520" y="3794760"/>
            <a:ext cx="17373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물품 등록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3159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D4ED8"/>
                </a:solidFill>
                <a:latin typeface="맑은 고딕"/>
              </a:rPr>
              <a:t>→ 슬라이드 5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029200" y="3447288"/>
            <a:ext cx="1069848" cy="347472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17920" y="3794760"/>
            <a:ext cx="17373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배달대행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신청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3159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D4ED8"/>
                </a:solidFill>
                <a:latin typeface="맑은 고딕"/>
              </a:rPr>
              <a:t>→ 슬라이드 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48" y="3447288"/>
            <a:ext cx="987552" cy="347472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0" y="3794760"/>
            <a:ext cx="17373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새소식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3159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D4ED8"/>
                </a:solidFill>
                <a:latin typeface="맑은 고딕"/>
              </a:rPr>
              <a:t>→ 슬라이드 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9048" y="3447288"/>
            <a:ext cx="2999232" cy="347472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0149840" y="3794760"/>
            <a:ext cx="17373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채팅/알림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43159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D4ED8"/>
                </a:solidFill>
                <a:latin typeface="맑은 고딕"/>
              </a:rPr>
              <a:t>→ 슬라이드 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9048" y="3447288"/>
            <a:ext cx="4919471" cy="347472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007" y="6922008"/>
            <a:ext cx="3749039" cy="1170432"/>
          </a:xfrm>
          <a:prstGeom prst="rect">
            <a:avLst/>
          </a:prstGeom>
          <a:solidFill>
            <a:srgbClr val="F9FAFB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" y="69585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2937"/>
                </a:solidFill>
                <a:latin typeface="맑은 고딕"/>
              </a:rPr>
              <a:t>범례 (Legend)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" y="7196328"/>
            <a:ext cx="347472" cy="201168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시작/종료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7196328"/>
            <a:ext cx="347472" cy="2011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6479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페이지/완료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06040" y="7196328"/>
            <a:ext cx="34747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9923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처리(Process)</a:t>
            </a:r>
          </a:p>
        </p:txBody>
      </p:sp>
      <p:sp>
        <p:nvSpPr>
          <p:cNvPr id="36" name="Diamond 35"/>
          <p:cNvSpPr/>
          <p:nvPr/>
        </p:nvSpPr>
        <p:spPr>
          <a:xfrm>
            <a:off x="137160" y="7598664"/>
            <a:ext cx="347472" cy="201168"/>
          </a:xfrm>
          <a:prstGeom prst="diamond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결정(Decision)</a:t>
            </a:r>
          </a:p>
        </p:txBody>
      </p:sp>
      <p:sp>
        <p:nvSpPr>
          <p:cNvPr id="38" name="Parallelogram 37"/>
          <p:cNvSpPr/>
          <p:nvPr/>
        </p:nvSpPr>
        <p:spPr>
          <a:xfrm>
            <a:off x="1371600" y="7598664"/>
            <a:ext cx="347472" cy="201168"/>
          </a:xfrm>
          <a:prstGeom prst="parallelogram">
            <a:avLst/>
          </a:prstGeom>
          <a:solidFill>
            <a:srgbClr val="EFE4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6479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입력/출력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① 로그인 / 회원가입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7448" y="1005840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로그인 / 회원가입 진입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389888"/>
            <a:ext cx="0" cy="18288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iamond 5"/>
          <p:cNvSpPr/>
          <p:nvPr/>
        </p:nvSpPr>
        <p:spPr>
          <a:xfrm>
            <a:off x="4727448" y="1572768"/>
            <a:ext cx="2743200" cy="6583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회원인가?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108960" y="1901952"/>
            <a:ext cx="1618488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16352" y="1700784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F4444"/>
                </a:solidFill>
                <a:latin typeface="맑은 고딕"/>
              </a:rPr>
              <a:t>No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709928"/>
            <a:ext cx="164592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회원가입</a:t>
            </a:r>
          </a:p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(UC-01)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70648" y="1901952"/>
            <a:ext cx="850392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16368" y="170078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6A34A"/>
                </a:solidFill>
                <a:latin typeface="맑은 고딕"/>
              </a:rPr>
              <a:t>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709928"/>
            <a:ext cx="164592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로그인 화면</a:t>
            </a:r>
          </a:p>
        </p:txBody>
      </p:sp>
      <p:sp>
        <p:nvSpPr>
          <p:cNvPr id="13" name="Diamond 12"/>
          <p:cNvSpPr/>
          <p:nvPr/>
        </p:nvSpPr>
        <p:spPr>
          <a:xfrm>
            <a:off x="4727448" y="3081528"/>
            <a:ext cx="2743200" cy="6583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소셜 로그인?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0" y="2093976"/>
            <a:ext cx="0" cy="1316736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86000" y="3410712"/>
            <a:ext cx="2441448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2093976"/>
            <a:ext cx="0" cy="1316736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470648" y="3410712"/>
            <a:ext cx="1673352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91840" y="3410712"/>
            <a:ext cx="1435608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63240" y="320954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6A34A"/>
                </a:solidFill>
                <a:latin typeface="맑은 고딕"/>
              </a:rPr>
              <a:t>Yes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218688"/>
            <a:ext cx="14630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소셜 인증</a:t>
            </a:r>
          </a:p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(UC-03)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70648" y="3410712"/>
            <a:ext cx="576072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16368" y="3209544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F4444"/>
                </a:solidFill>
                <a:latin typeface="맑은 고딕"/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218688"/>
            <a:ext cx="17373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ID/PW 입력</a:t>
            </a:r>
          </a:p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(UC-02)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27448" y="4498848"/>
            <a:ext cx="2743200" cy="43891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1F2937"/>
                </a:solidFill>
                <a:latin typeface="맑은 고딕"/>
              </a:rPr>
              <a:t>로그인 완료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60320" y="3602736"/>
            <a:ext cx="0" cy="1115568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60320" y="4718304"/>
            <a:ext cx="2167128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15400" y="3602736"/>
            <a:ext cx="0" cy="1115568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470648" y="4718304"/>
            <a:ext cx="1444752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818888" y="49743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맑은 고딕"/>
              </a:rPr>
              <a:t>↑ 메인페이지로 복귀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7" y="6922008"/>
            <a:ext cx="3749039" cy="1170432"/>
          </a:xfrm>
          <a:prstGeom prst="rect">
            <a:avLst/>
          </a:prstGeom>
          <a:solidFill>
            <a:srgbClr val="F9FAFB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160" y="69585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2937"/>
                </a:solidFill>
                <a:latin typeface="맑은 고딕"/>
              </a:rPr>
              <a:t>범례 (Legend)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" y="7196328"/>
            <a:ext cx="347472" cy="201168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시작/종료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7196328"/>
            <a:ext cx="347472" cy="2011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6479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페이지/완료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7196328"/>
            <a:ext cx="34747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9923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처리(Process)</a:t>
            </a:r>
          </a:p>
        </p:txBody>
      </p:sp>
      <p:sp>
        <p:nvSpPr>
          <p:cNvPr id="38" name="Diamond 37"/>
          <p:cNvSpPr/>
          <p:nvPr/>
        </p:nvSpPr>
        <p:spPr>
          <a:xfrm>
            <a:off x="137160" y="7598664"/>
            <a:ext cx="347472" cy="201168"/>
          </a:xfrm>
          <a:prstGeom prst="diamond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결정(Decision)</a:t>
            </a:r>
          </a:p>
        </p:txBody>
      </p:sp>
      <p:sp>
        <p:nvSpPr>
          <p:cNvPr id="40" name="Parallelogram 39"/>
          <p:cNvSpPr/>
          <p:nvPr/>
        </p:nvSpPr>
        <p:spPr>
          <a:xfrm>
            <a:off x="1371600" y="7598664"/>
            <a:ext cx="347472" cy="201168"/>
          </a:xfrm>
          <a:prstGeom prst="parallelogram">
            <a:avLst/>
          </a:prstGeom>
          <a:solidFill>
            <a:srgbClr val="EFE4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76479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입력/출력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맑은 고딕"/>
              </a:rPr>
              <a:t>② </a:t>
            </a:r>
            <a:r>
              <a:rPr sz="1600" b="1" dirty="0" err="1">
                <a:solidFill>
                  <a:srgbClr val="FFFFFF"/>
                </a:solidFill>
                <a:latin typeface="맑은 고딕"/>
              </a:rPr>
              <a:t>물품</a:t>
            </a:r>
            <a:r>
              <a:rPr sz="1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맑은 고딕"/>
              </a:rPr>
              <a:t>찾기</a:t>
            </a:r>
            <a:r>
              <a:rPr sz="1600" b="1" dirty="0">
                <a:solidFill>
                  <a:srgbClr val="FFFFFF"/>
                </a:solidFill>
                <a:latin typeface="맑은 고딕"/>
              </a:rPr>
              <a:t> / </a:t>
            </a:r>
            <a:r>
              <a:rPr sz="1600" b="1" dirty="0" err="1">
                <a:solidFill>
                  <a:srgbClr val="FFFFFF"/>
                </a:solidFill>
                <a:latin typeface="맑은 고딕"/>
              </a:rPr>
              <a:t>거래</a:t>
            </a:r>
            <a:r>
              <a:rPr sz="1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맑은 고딕"/>
              </a:rPr>
              <a:t>진행</a:t>
            </a:r>
            <a:endParaRPr sz="16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dirty="0" err="1">
                <a:solidFill>
                  <a:srgbClr val="6B7280"/>
                </a:solidFill>
                <a:latin typeface="맑은 고딕"/>
              </a:rPr>
              <a:t>검색</a:t>
            </a:r>
            <a:r>
              <a:rPr sz="850" b="0" dirty="0">
                <a:solidFill>
                  <a:srgbClr val="6B7280"/>
                </a:solidFill>
                <a:latin typeface="맑은 고딕"/>
              </a:rPr>
              <a:t> → </a:t>
            </a:r>
            <a:r>
              <a:rPr sz="850" b="0" dirty="0" err="1">
                <a:solidFill>
                  <a:srgbClr val="6B7280"/>
                </a:solidFill>
                <a:latin typeface="맑은 고딕"/>
              </a:rPr>
              <a:t>물품</a:t>
            </a:r>
            <a:r>
              <a:rPr sz="85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6B7280"/>
                </a:solidFill>
                <a:latin typeface="맑은 고딕"/>
              </a:rPr>
              <a:t>조회</a:t>
            </a:r>
            <a:r>
              <a:rPr sz="850" b="0" dirty="0">
                <a:solidFill>
                  <a:srgbClr val="6B7280"/>
                </a:solidFill>
                <a:latin typeface="맑은 고딕"/>
              </a:rPr>
              <a:t> → </a:t>
            </a:r>
            <a:r>
              <a:rPr sz="850" b="0" dirty="0" err="1">
                <a:solidFill>
                  <a:srgbClr val="6B7280"/>
                </a:solidFill>
                <a:latin typeface="맑은 고딕"/>
              </a:rPr>
              <a:t>거래</a:t>
            </a:r>
            <a:r>
              <a:rPr sz="85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6B7280"/>
                </a:solidFill>
                <a:latin typeface="맑은 고딕"/>
              </a:rPr>
              <a:t>예약</a:t>
            </a:r>
            <a:r>
              <a:rPr sz="850" b="0" dirty="0">
                <a:solidFill>
                  <a:srgbClr val="6B7280"/>
                </a:solidFill>
                <a:latin typeface="맑은 고딕"/>
              </a:rPr>
              <a:t> → </a:t>
            </a:r>
            <a:r>
              <a:rPr sz="850" b="0" dirty="0" err="1">
                <a:solidFill>
                  <a:srgbClr val="6B7280"/>
                </a:solidFill>
                <a:latin typeface="맑은 고딕"/>
              </a:rPr>
              <a:t>결제</a:t>
            </a:r>
            <a:r>
              <a:rPr sz="85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6B7280"/>
                </a:solidFill>
                <a:latin typeface="맑은 고딕"/>
              </a:rPr>
              <a:t>방식</a:t>
            </a:r>
            <a:r>
              <a:rPr sz="850" b="0" dirty="0">
                <a:solidFill>
                  <a:srgbClr val="6B7280"/>
                </a:solidFill>
                <a:latin typeface="맑은 고딕"/>
              </a:rPr>
              <a:t> → </a:t>
            </a:r>
            <a:r>
              <a:rPr sz="850" b="0" dirty="0" err="1">
                <a:solidFill>
                  <a:srgbClr val="6B7280"/>
                </a:solidFill>
                <a:latin typeface="맑은 고딕"/>
              </a:rPr>
              <a:t>배달대행</a:t>
            </a:r>
            <a:r>
              <a:rPr sz="85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6B7280"/>
                </a:solidFill>
                <a:latin typeface="맑은 고딕"/>
              </a:rPr>
              <a:t>여부</a:t>
            </a:r>
            <a:r>
              <a:rPr sz="85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6B7280"/>
                </a:solidFill>
                <a:latin typeface="맑은 고딕"/>
              </a:rPr>
              <a:t>결정</a:t>
            </a:r>
            <a:endParaRPr sz="850" b="0" dirty="0">
              <a:solidFill>
                <a:srgbClr val="6B7280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27448" y="960120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 dirty="0" err="1">
                <a:solidFill>
                  <a:srgbClr val="1F2937"/>
                </a:solidFill>
                <a:latin typeface="맑은 고딕"/>
              </a:rPr>
              <a:t>검색</a:t>
            </a:r>
            <a:r>
              <a:rPr sz="900" b="0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900" b="0" dirty="0" err="1">
                <a:solidFill>
                  <a:srgbClr val="1F2937"/>
                </a:solidFill>
                <a:latin typeface="맑은 고딕"/>
              </a:rPr>
              <a:t>필터링</a:t>
            </a:r>
            <a:r>
              <a:rPr sz="900" b="0" dirty="0">
                <a:solidFill>
                  <a:srgbClr val="1F2937"/>
                </a:solidFill>
                <a:latin typeface="맑은 고딕"/>
              </a:rPr>
              <a:t> (UC-17, UC-18)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9048" y="1344168"/>
            <a:ext cx="0" cy="164592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727448" y="1508760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 dirty="0" err="1">
                <a:solidFill>
                  <a:srgbClr val="1F2937"/>
                </a:solidFill>
                <a:latin typeface="맑은 고딕"/>
              </a:rPr>
              <a:t>물품</a:t>
            </a:r>
            <a:r>
              <a:rPr sz="9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F2937"/>
                </a:solidFill>
                <a:latin typeface="맑은 고딕"/>
              </a:rPr>
              <a:t>상세</a:t>
            </a:r>
            <a:r>
              <a:rPr sz="9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F2937"/>
                </a:solidFill>
                <a:latin typeface="맑은 고딕"/>
              </a:rPr>
              <a:t>조회</a:t>
            </a:r>
            <a:r>
              <a:rPr sz="900" b="0" dirty="0">
                <a:solidFill>
                  <a:srgbClr val="1F2937"/>
                </a:solidFill>
                <a:latin typeface="맑은 고딕"/>
              </a:rPr>
              <a:t> (UC-16)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8" y="1892807"/>
            <a:ext cx="0" cy="164593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4727448" y="2057400"/>
            <a:ext cx="2743200" cy="6583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거래 진행?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651760" y="2386584"/>
            <a:ext cx="2075688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50592" y="2203703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F4444"/>
                </a:solidFill>
                <a:latin typeface="맑은 고딕"/>
              </a:rPr>
              <a:t>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194560"/>
            <a:ext cx="12801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관심 등록</a:t>
            </a:r>
          </a:p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(UC-24)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2715768"/>
            <a:ext cx="0" cy="18288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44768" y="2724911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6A34A"/>
                </a:solidFill>
                <a:latin typeface="맑은 고딕"/>
              </a:rPr>
              <a:t>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7448" y="2898648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채팅하기 (UC-21)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9048" y="3282696"/>
            <a:ext cx="0" cy="164592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727448" y="3447288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거래 예약(확정) (UC-31)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9048" y="3831336"/>
            <a:ext cx="0" cy="164592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iamond 18"/>
          <p:cNvSpPr/>
          <p:nvPr/>
        </p:nvSpPr>
        <p:spPr>
          <a:xfrm>
            <a:off x="4727448" y="3995928"/>
            <a:ext cx="2743200" cy="6583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대여 / 거래?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108960" y="4325112"/>
            <a:ext cx="1618488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52191" y="41422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맑은 고딕"/>
              </a:rPr>
              <a:t>대여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4133088"/>
            <a:ext cx="14630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00" b="0">
                <a:solidFill>
                  <a:srgbClr val="1F2937"/>
                </a:solidFill>
                <a:latin typeface="맑은 고딕"/>
              </a:rPr>
              <a:t>대여금+보증금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맑은 고딕"/>
              </a:rPr>
              <a:t>결제 (UC-19)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70648" y="4325112"/>
            <a:ext cx="850392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16368" y="41422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맑은 고딕"/>
              </a:rPr>
              <a:t>거래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4133088"/>
            <a:ext cx="14630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00" b="0">
                <a:solidFill>
                  <a:srgbClr val="1F2937"/>
                </a:solidFill>
                <a:latin typeface="맑은 고딕"/>
              </a:rPr>
              <a:t>구매/판매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맑은 고딕"/>
              </a:rPr>
              <a:t>결제 (UC-20)</a:t>
            </a:r>
          </a:p>
        </p:txBody>
      </p:sp>
      <p:sp>
        <p:nvSpPr>
          <p:cNvPr id="26" name="Diamond 25"/>
          <p:cNvSpPr/>
          <p:nvPr/>
        </p:nvSpPr>
        <p:spPr>
          <a:xfrm>
            <a:off x="4727448" y="5230368"/>
            <a:ext cx="2743200" cy="6583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F2937"/>
                </a:solidFill>
                <a:latin typeface="맑은 고딕"/>
              </a:rPr>
              <a:t>배달대행 사용?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4517136"/>
            <a:ext cx="0" cy="1042416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77440" y="5559552"/>
            <a:ext cx="2350008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52560" y="4517136"/>
            <a:ext cx="0" cy="1042416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470648" y="5559552"/>
            <a:ext cx="1581912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99048" y="5888736"/>
            <a:ext cx="0" cy="201168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44768" y="59161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6A34A"/>
                </a:solidFill>
                <a:latin typeface="맑은 고딕"/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53128" y="6089904"/>
            <a:ext cx="3291840" cy="475488"/>
          </a:xfrm>
          <a:prstGeom prst="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0F766E"/>
                </a:solidFill>
                <a:latin typeface="맑은 고딕"/>
              </a:rPr>
              <a:t>배달대행 처리 흐름</a:t>
            </a:r>
          </a:p>
          <a:p>
            <a:pPr algn="ctr"/>
            <a:r>
              <a:rPr sz="900" b="0">
                <a:solidFill>
                  <a:srgbClr val="0F766E"/>
                </a:solidFill>
                <a:latin typeface="맑은 고딕"/>
              </a:rPr>
              <a:t>→ 슬라이드 4에서 계속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70648" y="5559552"/>
            <a:ext cx="850392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516368" y="537667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F4444"/>
                </a:solidFill>
                <a:latin typeface="맑은 고딕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5367528"/>
            <a:ext cx="164592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직접 거래</a:t>
            </a:r>
          </a:p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(오프라인)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27448" y="6757416"/>
            <a:ext cx="2743200" cy="43891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1F2937"/>
                </a:solidFill>
                <a:latin typeface="맑은 고딕"/>
              </a:rPr>
              <a:t>거래 완료 (UC-32)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0" y="5751576"/>
            <a:ext cx="0" cy="1225296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470648" y="6976872"/>
            <a:ext cx="1673352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818888" y="72329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D4ED8"/>
                </a:solidFill>
                <a:latin typeface="맑은 고딕"/>
              </a:rPr>
              <a:t>→ 슬라이드 4: 거래 완료/종료 흐름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7" y="6922008"/>
            <a:ext cx="3749039" cy="1170432"/>
          </a:xfrm>
          <a:prstGeom prst="rect">
            <a:avLst/>
          </a:prstGeom>
          <a:solidFill>
            <a:srgbClr val="F9FAFB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37160" y="69585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2937"/>
                </a:solidFill>
                <a:latin typeface="맑은 고딕"/>
              </a:rPr>
              <a:t>범례 (Legend)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7160" y="7196328"/>
            <a:ext cx="347472" cy="201168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시작/종료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71600" y="7196328"/>
            <a:ext cx="347472" cy="2011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76479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페이지/완료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40" y="7196328"/>
            <a:ext cx="34747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9923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처리(Process)</a:t>
            </a:r>
          </a:p>
        </p:txBody>
      </p:sp>
      <p:sp>
        <p:nvSpPr>
          <p:cNvPr id="49" name="Diamond 48"/>
          <p:cNvSpPr/>
          <p:nvPr/>
        </p:nvSpPr>
        <p:spPr>
          <a:xfrm>
            <a:off x="137160" y="7598664"/>
            <a:ext cx="347472" cy="201168"/>
          </a:xfrm>
          <a:prstGeom prst="diamond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035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결정(Decision)</a:t>
            </a:r>
          </a:p>
        </p:txBody>
      </p:sp>
      <p:sp>
        <p:nvSpPr>
          <p:cNvPr id="51" name="Parallelogram 50"/>
          <p:cNvSpPr/>
          <p:nvPr/>
        </p:nvSpPr>
        <p:spPr>
          <a:xfrm>
            <a:off x="1371600" y="7598664"/>
            <a:ext cx="347472" cy="201168"/>
          </a:xfrm>
          <a:prstGeom prst="parallelogram">
            <a:avLst/>
          </a:prstGeom>
          <a:solidFill>
            <a:srgbClr val="EFE4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76479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입력/출력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③ 거래 완료 / 배달대행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맑은 고딕"/>
              </a:rPr>
              <a:t>슬라이드 3에서 이어지는 흐름 — 배달대행 경로 또는 직접 거래 후 완료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914400"/>
            <a:ext cx="0" cy="18288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45920" y="960120"/>
            <a:ext cx="18288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배달대행 신청</a:t>
            </a:r>
          </a:p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(UC-33)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1188720" y="1527048"/>
            <a:ext cx="2743200" cy="384048"/>
          </a:xfrm>
          <a:prstGeom prst="parallelogram">
            <a:avLst/>
          </a:prstGeom>
          <a:solidFill>
            <a:srgbClr val="EFE4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50" b="0" dirty="0" err="1">
                <a:solidFill>
                  <a:srgbClr val="1F2937"/>
                </a:solidFill>
                <a:latin typeface="맑은 고딕"/>
              </a:rPr>
              <a:t>물품</a:t>
            </a:r>
            <a:r>
              <a:rPr sz="85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1F2937"/>
                </a:solidFill>
                <a:latin typeface="맑은 고딕"/>
              </a:rPr>
              <a:t>정보</a:t>
            </a:r>
            <a:r>
              <a:rPr sz="85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lang="en-US" sz="85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lang="en-US" sz="850" dirty="0">
                <a:solidFill>
                  <a:srgbClr val="1F2937"/>
                </a:solidFill>
                <a:latin typeface="맑은 고딕"/>
              </a:rPr>
              <a:t>(UC-34)</a:t>
            </a:r>
            <a:endParaRPr sz="850" b="0" dirty="0">
              <a:solidFill>
                <a:srgbClr val="1F2937"/>
              </a:solidFill>
              <a:latin typeface="맑은 고딕"/>
            </a:endParaRPr>
          </a:p>
          <a:p>
            <a:pPr algn="ctr"/>
            <a:r>
              <a:rPr sz="850" b="0" dirty="0">
                <a:solidFill>
                  <a:srgbClr val="1F2937"/>
                </a:solidFill>
                <a:latin typeface="맑은 고딕"/>
              </a:rPr>
              <a:t>(</a:t>
            </a:r>
            <a:r>
              <a:rPr sz="850" b="0" dirty="0" err="1">
                <a:solidFill>
                  <a:srgbClr val="1F2937"/>
                </a:solidFill>
                <a:latin typeface="맑은 고딕"/>
              </a:rPr>
              <a:t>이미지</a:t>
            </a:r>
            <a:r>
              <a:rPr sz="85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850" b="0" dirty="0" err="1">
                <a:solidFill>
                  <a:srgbClr val="1F2937"/>
                </a:solidFill>
                <a:latin typeface="맑은 고딕"/>
              </a:rPr>
              <a:t>무게</a:t>
            </a:r>
            <a:r>
              <a:rPr sz="85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850" b="0" dirty="0" err="1">
                <a:solidFill>
                  <a:srgbClr val="1F2937"/>
                </a:solidFill>
                <a:latin typeface="맑은 고딕"/>
              </a:rPr>
              <a:t>주소</a:t>
            </a:r>
            <a:r>
              <a:rPr sz="850" b="0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344168"/>
            <a:ext cx="0" cy="18288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188720" y="2103120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수수료 결제 (UC-35)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1911095"/>
            <a:ext cx="0" cy="192025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188720" y="2679191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배달 현황 조회 (UC-36)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2487168"/>
            <a:ext cx="0" cy="192023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12480" y="1645920"/>
            <a:ext cx="201168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직접 거래 진행</a:t>
            </a:r>
          </a:p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(오프라인)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960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D4ED8"/>
                </a:solidFill>
                <a:latin typeface="맑은 고딕"/>
              </a:rPr>
              <a:t>← 슬라이드 3</a:t>
            </a:r>
          </a:p>
          <a:p>
            <a:pPr algn="ctr"/>
            <a:r>
              <a:rPr sz="800" b="0">
                <a:solidFill>
                  <a:srgbClr val="1D4ED8"/>
                </a:solidFill>
                <a:latin typeface="맑은 고딕"/>
              </a:rPr>
              <a:t>직접 거래 경로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27448" y="3246120"/>
            <a:ext cx="2743200" cy="43891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1F2937"/>
                </a:solidFill>
                <a:latin typeface="맑은 고딕"/>
              </a:rPr>
              <a:t>거래 완료 (UC-32)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3063239"/>
            <a:ext cx="0" cy="402337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60320" y="3465576"/>
            <a:ext cx="2167128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2029967"/>
            <a:ext cx="0" cy="1435609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470648" y="3465576"/>
            <a:ext cx="1947672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9048" y="3685031"/>
            <a:ext cx="0" cy="201169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4727448" y="3886200"/>
            <a:ext cx="2743200" cy="6583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대여 거래?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291840" y="4215384"/>
            <a:ext cx="1435608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90672" y="40325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6A34A"/>
                </a:solidFill>
                <a:latin typeface="맑은 고딕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4023360"/>
            <a:ext cx="14630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보증금 반환</a:t>
            </a:r>
          </a:p>
          <a:p>
            <a:pPr algn="ctr"/>
            <a:r>
              <a:rPr sz="850" b="0">
                <a:solidFill>
                  <a:srgbClr val="1F2937"/>
                </a:solidFill>
                <a:latin typeface="맑은 고딕"/>
              </a:rPr>
              <a:t>(UC-43)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60320" y="4407408"/>
            <a:ext cx="0" cy="32004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60320" y="4727448"/>
            <a:ext cx="3538728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70648" y="4215384"/>
            <a:ext cx="1097280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516368" y="4032504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F4444"/>
                </a:solidFill>
                <a:latin typeface="맑은 고딕"/>
              </a:rPr>
              <a:t>No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67928" y="4215384"/>
            <a:ext cx="0" cy="512064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470648" y="4727448"/>
            <a:ext cx="1097280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727448" y="4727448"/>
            <a:ext cx="2743200" cy="457200"/>
          </a:xfrm>
          <a:prstGeom prst="roundRect">
            <a:avLst/>
          </a:prstGeom>
          <a:solidFill>
            <a:srgbClr val="FCE7F3"/>
          </a:solidFill>
          <a:ln w="1524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 err="1">
                <a:solidFill>
                  <a:srgbClr val="1F2937"/>
                </a:solidFill>
                <a:latin typeface="맑은 고딕"/>
              </a:rPr>
              <a:t>거래</a:t>
            </a:r>
            <a:r>
              <a:rPr sz="11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2937"/>
                </a:solidFill>
                <a:latin typeface="맑은 고딕"/>
              </a:rPr>
              <a:t>완료</a:t>
            </a:r>
            <a:r>
              <a:rPr sz="1100" b="1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1100" b="1" dirty="0" err="1">
                <a:solidFill>
                  <a:srgbClr val="1F2937"/>
                </a:solidFill>
                <a:latin typeface="맑은 고딕"/>
              </a:rPr>
              <a:t>종료</a:t>
            </a:r>
            <a:endParaRPr sz="1100" b="1" dirty="0">
              <a:solidFill>
                <a:srgbClr val="1F2937"/>
              </a:solidFill>
              <a:latin typeface="맑은 고딕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007" y="6922008"/>
            <a:ext cx="3749039" cy="1170432"/>
          </a:xfrm>
          <a:prstGeom prst="rect">
            <a:avLst/>
          </a:prstGeom>
          <a:solidFill>
            <a:srgbClr val="F9FAFB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" y="69585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2937"/>
                </a:solidFill>
                <a:latin typeface="맑은 고딕"/>
              </a:rPr>
              <a:t>범례 (Legend)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" y="7196328"/>
            <a:ext cx="347472" cy="201168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시작/종료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7196328"/>
            <a:ext cx="347472" cy="2011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76479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페이지/완료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7196328"/>
            <a:ext cx="34747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9923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처리(Process)</a:t>
            </a:r>
          </a:p>
        </p:txBody>
      </p:sp>
      <p:sp>
        <p:nvSpPr>
          <p:cNvPr id="40" name="Diamond 39"/>
          <p:cNvSpPr/>
          <p:nvPr/>
        </p:nvSpPr>
        <p:spPr>
          <a:xfrm>
            <a:off x="137160" y="7598664"/>
            <a:ext cx="347472" cy="201168"/>
          </a:xfrm>
          <a:prstGeom prst="diamond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결정(Decision)</a:t>
            </a:r>
          </a:p>
        </p:txBody>
      </p:sp>
      <p:sp>
        <p:nvSpPr>
          <p:cNvPr id="42" name="Parallelogram 41"/>
          <p:cNvSpPr/>
          <p:nvPr/>
        </p:nvSpPr>
        <p:spPr>
          <a:xfrm>
            <a:off x="1371600" y="7598664"/>
            <a:ext cx="347472" cy="201168"/>
          </a:xfrm>
          <a:prstGeom prst="parallelogram">
            <a:avLst/>
          </a:prstGeom>
          <a:solidFill>
            <a:srgbClr val="EFE4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76479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입력/출력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④ 물품 등록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7448" y="1005840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물품 등록 진입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389888"/>
            <a:ext cx="0" cy="18288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iamond 5"/>
          <p:cNvSpPr/>
          <p:nvPr/>
        </p:nvSpPr>
        <p:spPr>
          <a:xfrm>
            <a:off x="4727448" y="1572768"/>
            <a:ext cx="2743200" cy="6583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로그인됨?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70648" y="1901952"/>
            <a:ext cx="1554480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16368" y="171907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F4444"/>
                </a:solidFill>
                <a:latin typeface="맑은 고딕"/>
              </a:rPr>
              <a:t>No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5128" y="1709928"/>
            <a:ext cx="2011680" cy="384048"/>
          </a:xfrm>
          <a:prstGeom prst="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50" b="0" dirty="0">
                <a:solidFill>
                  <a:srgbClr val="0F766E"/>
                </a:solidFill>
                <a:latin typeface="맑은 고딕"/>
              </a:rPr>
              <a:t>→ </a:t>
            </a:r>
            <a:r>
              <a:rPr sz="850" b="0" dirty="0" err="1">
                <a:solidFill>
                  <a:srgbClr val="0F766E"/>
                </a:solidFill>
                <a:latin typeface="맑은 고딕"/>
              </a:rPr>
              <a:t>로그인</a:t>
            </a:r>
            <a:r>
              <a:rPr sz="850" b="0" dirty="0">
                <a:solidFill>
                  <a:srgbClr val="0F766E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0F766E"/>
                </a:solidFill>
                <a:latin typeface="맑은 고딕"/>
              </a:rPr>
              <a:t>화면</a:t>
            </a:r>
            <a:endParaRPr sz="850" b="0" dirty="0">
              <a:solidFill>
                <a:srgbClr val="0F766E"/>
              </a:solidFill>
              <a:latin typeface="맑은 고딕"/>
            </a:endParaRPr>
          </a:p>
          <a:p>
            <a:pPr algn="ctr"/>
            <a:r>
              <a:rPr sz="850" b="0" dirty="0">
                <a:solidFill>
                  <a:srgbClr val="0F766E"/>
                </a:solidFill>
                <a:latin typeface="맑은 고딕"/>
              </a:rPr>
              <a:t>(</a:t>
            </a:r>
            <a:r>
              <a:rPr sz="850" b="0" dirty="0" err="1">
                <a:solidFill>
                  <a:srgbClr val="0F766E"/>
                </a:solidFill>
                <a:latin typeface="맑은 고딕"/>
              </a:rPr>
              <a:t>슬라이드</a:t>
            </a:r>
            <a:r>
              <a:rPr sz="850" b="0" dirty="0">
                <a:solidFill>
                  <a:srgbClr val="0F766E"/>
                </a:solidFill>
                <a:latin typeface="맑은 고딕"/>
              </a:rPr>
              <a:t> 2 </a:t>
            </a:r>
            <a:r>
              <a:rPr sz="850" b="0" dirty="0" err="1">
                <a:solidFill>
                  <a:srgbClr val="0F766E"/>
                </a:solidFill>
                <a:latin typeface="맑은 고딕"/>
              </a:rPr>
              <a:t>참고</a:t>
            </a:r>
            <a:r>
              <a:rPr sz="850" b="0" dirty="0">
                <a:solidFill>
                  <a:srgbClr val="0F766E"/>
                </a:solidFill>
                <a:latin typeface="맑은 고딕"/>
              </a:rPr>
              <a:t>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8" y="2231136"/>
            <a:ext cx="0" cy="201168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44768" y="2258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6A34A"/>
                </a:solidFill>
                <a:latin typeface="맑은 고딕"/>
              </a:rPr>
              <a:t>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7448" y="2432304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물품 등록 화면 (UC-13)</a:t>
            </a:r>
          </a:p>
        </p:txBody>
      </p:sp>
      <p:cxnSp>
        <p:nvCxnSpPr>
          <p:cNvPr id="13" name="Connector 12"/>
          <p:cNvCxnSpPr>
            <a:cxnSpLocks/>
            <a:stCxn id="14" idx="0"/>
          </p:cNvCxnSpPr>
          <p:nvPr/>
        </p:nvCxnSpPr>
        <p:spPr>
          <a:xfrm flipH="1" flipV="1">
            <a:off x="6094412" y="2816352"/>
            <a:ext cx="4636" cy="292608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arallelogram 13"/>
          <p:cNvSpPr/>
          <p:nvPr/>
        </p:nvSpPr>
        <p:spPr>
          <a:xfrm>
            <a:off x="4727448" y="3108960"/>
            <a:ext cx="2743200" cy="457200"/>
          </a:xfrm>
          <a:prstGeom prst="parallelogram">
            <a:avLst/>
          </a:prstGeom>
          <a:solidFill>
            <a:srgbClr val="EFE4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거래/공유 태그 + 해시태그 입력</a:t>
            </a:r>
          </a:p>
        </p:txBody>
      </p:sp>
      <p:cxnSp>
        <p:nvCxnSpPr>
          <p:cNvPr id="15" name="Connector 14"/>
          <p:cNvCxnSpPr>
            <a:cxnSpLocks/>
            <a:stCxn id="16" idx="0"/>
          </p:cNvCxnSpPr>
          <p:nvPr/>
        </p:nvCxnSpPr>
        <p:spPr>
          <a:xfrm flipH="1" flipV="1">
            <a:off x="6094412" y="3566160"/>
            <a:ext cx="4636" cy="292608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27448" y="3858768"/>
            <a:ext cx="2743200" cy="43891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1F2937"/>
                </a:solidFill>
                <a:latin typeface="맑은 고딕"/>
              </a:rPr>
              <a:t>등록 완료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7" y="6922008"/>
            <a:ext cx="3749039" cy="1170432"/>
          </a:xfrm>
          <a:prstGeom prst="rect">
            <a:avLst/>
          </a:prstGeom>
          <a:solidFill>
            <a:srgbClr val="F9FAFB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" y="69585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2937"/>
                </a:solidFill>
                <a:latin typeface="맑은 고딕"/>
              </a:rPr>
              <a:t>범례 (Legend)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7196328"/>
            <a:ext cx="347472" cy="201168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시작/종료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7196328"/>
            <a:ext cx="347472" cy="2011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6479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페이지/완료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7196328"/>
            <a:ext cx="34747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9923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처리(Process)</a:t>
            </a:r>
          </a:p>
        </p:txBody>
      </p:sp>
      <p:sp>
        <p:nvSpPr>
          <p:cNvPr id="25" name="Diamond 24"/>
          <p:cNvSpPr/>
          <p:nvPr/>
        </p:nvSpPr>
        <p:spPr>
          <a:xfrm>
            <a:off x="137160" y="7598664"/>
            <a:ext cx="347472" cy="201168"/>
          </a:xfrm>
          <a:prstGeom prst="diamond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결정(Decision)</a:t>
            </a:r>
          </a:p>
        </p:txBody>
      </p:sp>
      <p:sp>
        <p:nvSpPr>
          <p:cNvPr id="27" name="Parallelogram 26"/>
          <p:cNvSpPr/>
          <p:nvPr/>
        </p:nvSpPr>
        <p:spPr>
          <a:xfrm>
            <a:off x="1371600" y="7598664"/>
            <a:ext cx="347472" cy="201168"/>
          </a:xfrm>
          <a:prstGeom prst="parallelogram">
            <a:avLst/>
          </a:prstGeom>
          <a:solidFill>
            <a:srgbClr val="EFE4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6479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입력/출력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⑤ 배달대행 신청 (독립 진입)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7448" y="1005840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배달대행 신청 진입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389888"/>
            <a:ext cx="0" cy="18288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iamond 5"/>
          <p:cNvSpPr/>
          <p:nvPr/>
        </p:nvSpPr>
        <p:spPr>
          <a:xfrm>
            <a:off x="4727448" y="1572768"/>
            <a:ext cx="2743200" cy="6583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ko-KR" altLang="en-US" sz="1000" b="0" dirty="0" err="1">
                <a:solidFill>
                  <a:srgbClr val="1F2937"/>
                </a:solidFill>
                <a:latin typeface="맑은 고딕"/>
              </a:rPr>
              <a:t>로그인됨</a:t>
            </a:r>
            <a:r>
              <a:rPr lang="en-US" altLang="ko-KR" sz="1000" b="0" dirty="0">
                <a:solidFill>
                  <a:srgbClr val="1F2937"/>
                </a:solidFill>
                <a:latin typeface="맑은 고딕"/>
              </a:rPr>
              <a:t>?</a:t>
            </a:r>
            <a:endParaRPr sz="1000" b="0" dirty="0">
              <a:solidFill>
                <a:srgbClr val="1F2937"/>
              </a:solidFill>
              <a:latin typeface="맑은 고딕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7470648" y="1901952"/>
            <a:ext cx="1554480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16368" y="171907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F4444"/>
                </a:solidFill>
                <a:latin typeface="맑은 고딕"/>
              </a:rPr>
              <a:t>No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5128" y="1709928"/>
            <a:ext cx="2011680" cy="384048"/>
          </a:xfrm>
          <a:prstGeom prst="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50" b="0" dirty="0">
                <a:solidFill>
                  <a:srgbClr val="0F766E"/>
                </a:solidFill>
                <a:latin typeface="맑은 고딕"/>
              </a:rPr>
              <a:t>→ </a:t>
            </a:r>
            <a:r>
              <a:rPr sz="850" b="0" dirty="0" err="1">
                <a:solidFill>
                  <a:srgbClr val="0F766E"/>
                </a:solidFill>
                <a:latin typeface="맑은 고딕"/>
              </a:rPr>
              <a:t>로그인</a:t>
            </a:r>
            <a:r>
              <a:rPr sz="850" b="0" dirty="0">
                <a:solidFill>
                  <a:srgbClr val="0F766E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0F766E"/>
                </a:solidFill>
                <a:latin typeface="맑은 고딕"/>
              </a:rPr>
              <a:t>화면</a:t>
            </a:r>
            <a:endParaRPr sz="850" b="0" dirty="0">
              <a:solidFill>
                <a:srgbClr val="0F766E"/>
              </a:solidFill>
              <a:latin typeface="맑은 고딕"/>
            </a:endParaRPr>
          </a:p>
          <a:p>
            <a:pPr algn="ctr"/>
            <a:r>
              <a:rPr sz="850" b="0" dirty="0">
                <a:solidFill>
                  <a:srgbClr val="0F766E"/>
                </a:solidFill>
                <a:latin typeface="맑은 고딕"/>
              </a:rPr>
              <a:t>(</a:t>
            </a:r>
            <a:r>
              <a:rPr sz="850" b="0" dirty="0" err="1">
                <a:solidFill>
                  <a:srgbClr val="0F766E"/>
                </a:solidFill>
                <a:latin typeface="맑은 고딕"/>
              </a:rPr>
              <a:t>슬라이드</a:t>
            </a:r>
            <a:r>
              <a:rPr sz="850" b="0" dirty="0">
                <a:solidFill>
                  <a:srgbClr val="0F766E"/>
                </a:solidFill>
                <a:latin typeface="맑은 고딕"/>
              </a:rPr>
              <a:t> 2 </a:t>
            </a:r>
            <a:r>
              <a:rPr sz="850" b="0" dirty="0" err="1">
                <a:solidFill>
                  <a:srgbClr val="0F766E"/>
                </a:solidFill>
                <a:latin typeface="맑은 고딕"/>
              </a:rPr>
              <a:t>참고</a:t>
            </a:r>
            <a:r>
              <a:rPr sz="850" b="0" dirty="0">
                <a:solidFill>
                  <a:srgbClr val="0F766E"/>
                </a:solidFill>
                <a:latin typeface="맑은 고딕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2258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dirty="0">
                <a:solidFill>
                  <a:srgbClr val="16A34A"/>
                </a:solidFill>
                <a:latin typeface="맑은 고딕"/>
              </a:rPr>
              <a:t>Yes</a:t>
            </a:r>
          </a:p>
        </p:txBody>
      </p:sp>
      <p:cxnSp>
        <p:nvCxnSpPr>
          <p:cNvPr id="13" name="Connector 12"/>
          <p:cNvCxnSpPr>
            <a:cxnSpLocks/>
            <a:stCxn id="14" idx="0"/>
            <a:endCxn id="6" idx="2"/>
          </p:cNvCxnSpPr>
          <p:nvPr/>
        </p:nvCxnSpPr>
        <p:spPr>
          <a:xfrm flipV="1">
            <a:off x="6099048" y="2231136"/>
            <a:ext cx="0" cy="905256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721608" y="3136392"/>
            <a:ext cx="4754880" cy="594360"/>
          </a:xfrm>
          <a:prstGeom prst="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 dirty="0">
                <a:solidFill>
                  <a:srgbClr val="0F766E"/>
                </a:solidFill>
                <a:latin typeface="맑은 고딕"/>
              </a:rPr>
              <a:t>※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이후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흐름은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슬라이드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 4 「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거래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완료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/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배달대행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처리」의</a:t>
            </a:r>
            <a:endParaRPr sz="900" b="0" dirty="0">
              <a:solidFill>
                <a:srgbClr val="0F766E"/>
              </a:solidFill>
              <a:latin typeface="맑은 고딕"/>
            </a:endParaRPr>
          </a:p>
          <a:p>
            <a:pPr algn="ctr"/>
            <a:r>
              <a:rPr sz="900" b="0" dirty="0" err="1">
                <a:solidFill>
                  <a:srgbClr val="0F766E"/>
                </a:solidFill>
                <a:latin typeface="맑은 고딕"/>
              </a:rPr>
              <a:t>배달대행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경로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(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물품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정보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입력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 →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수수료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결제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 →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배달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현황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조회</a:t>
            </a:r>
            <a:r>
              <a:rPr sz="900" b="0" dirty="0">
                <a:solidFill>
                  <a:srgbClr val="0F766E"/>
                </a:solidFill>
                <a:latin typeface="맑은 고딕"/>
              </a:rPr>
              <a:t>)로 </a:t>
            </a:r>
            <a:r>
              <a:rPr sz="900" b="0" dirty="0" err="1">
                <a:solidFill>
                  <a:srgbClr val="0F766E"/>
                </a:solidFill>
                <a:latin typeface="맑은 고딕"/>
              </a:rPr>
              <a:t>합류</a:t>
            </a:r>
            <a:endParaRPr sz="900" b="0" dirty="0">
              <a:solidFill>
                <a:srgbClr val="0F766E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7" y="6922008"/>
            <a:ext cx="3749039" cy="1170432"/>
          </a:xfrm>
          <a:prstGeom prst="rect">
            <a:avLst/>
          </a:prstGeom>
          <a:solidFill>
            <a:srgbClr val="F9FAFB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" y="69585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2937"/>
                </a:solidFill>
                <a:latin typeface="맑은 고딕"/>
              </a:rPr>
              <a:t>범례 (Legend)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7196328"/>
            <a:ext cx="347472" cy="201168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시작/종료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7196328"/>
            <a:ext cx="347472" cy="2011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6479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페이지/완료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7196328"/>
            <a:ext cx="34747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9923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처리(Process)</a:t>
            </a:r>
          </a:p>
        </p:txBody>
      </p:sp>
      <p:sp>
        <p:nvSpPr>
          <p:cNvPr id="23" name="Diamond 22"/>
          <p:cNvSpPr/>
          <p:nvPr/>
        </p:nvSpPr>
        <p:spPr>
          <a:xfrm>
            <a:off x="137160" y="7598664"/>
            <a:ext cx="347472" cy="201168"/>
          </a:xfrm>
          <a:prstGeom prst="diamond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결정(Decision)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1371600" y="7598664"/>
            <a:ext cx="347472" cy="201168"/>
          </a:xfrm>
          <a:prstGeom prst="parallelogram">
            <a:avLst/>
          </a:prstGeom>
          <a:solidFill>
            <a:srgbClr val="EFE4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6479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입력/출력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⑥ 새소식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7448" y="1005840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새소식 화면 진입</a:t>
            </a:r>
          </a:p>
        </p:txBody>
      </p:sp>
      <p:cxnSp>
        <p:nvCxnSpPr>
          <p:cNvPr id="5" name="Connector 4"/>
          <p:cNvCxnSpPr>
            <a:cxnSpLocks/>
            <a:stCxn id="6" idx="0"/>
          </p:cNvCxnSpPr>
          <p:nvPr/>
        </p:nvCxnSpPr>
        <p:spPr>
          <a:xfrm flipV="1">
            <a:off x="6099048" y="1389888"/>
            <a:ext cx="0" cy="292608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727448" y="1682496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새소식 화면</a:t>
            </a:r>
          </a:p>
        </p:txBody>
      </p:sp>
      <p:cxnSp>
        <p:nvCxnSpPr>
          <p:cNvPr id="7" name="Connector 6"/>
          <p:cNvCxnSpPr>
            <a:cxnSpLocks/>
            <a:stCxn id="8" idx="0"/>
          </p:cNvCxnSpPr>
          <p:nvPr/>
        </p:nvCxnSpPr>
        <p:spPr>
          <a:xfrm flipV="1">
            <a:off x="6099048" y="2066544"/>
            <a:ext cx="0" cy="292608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4727448" y="2359152"/>
            <a:ext cx="2743200" cy="6583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조회 항목?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840480" y="2688336"/>
            <a:ext cx="886968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22192" y="250545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맑은 고딕"/>
              </a:rPr>
              <a:t>공지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496312"/>
            <a:ext cx="18288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공지사항 조회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(UC-38)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70648" y="2688336"/>
            <a:ext cx="850392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16368" y="250545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맑은 고딕"/>
              </a:rPr>
              <a:t>이벤트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496312"/>
            <a:ext cx="18288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이벤트 조회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(UC-39)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7" y="6922008"/>
            <a:ext cx="3749039" cy="1170432"/>
          </a:xfrm>
          <a:prstGeom prst="rect">
            <a:avLst/>
          </a:prstGeom>
          <a:solidFill>
            <a:srgbClr val="F9FAFB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" y="69585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2937"/>
                </a:solidFill>
                <a:latin typeface="맑은 고딕"/>
              </a:rPr>
              <a:t>범례 (Legend)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7196328"/>
            <a:ext cx="347472" cy="201168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시작/종료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7196328"/>
            <a:ext cx="347472" cy="2011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6479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페이지/완료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7196328"/>
            <a:ext cx="34747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9923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처리(Process)</a:t>
            </a:r>
          </a:p>
        </p:txBody>
      </p:sp>
      <p:sp>
        <p:nvSpPr>
          <p:cNvPr id="23" name="Diamond 22"/>
          <p:cNvSpPr/>
          <p:nvPr/>
        </p:nvSpPr>
        <p:spPr>
          <a:xfrm>
            <a:off x="137160" y="7598664"/>
            <a:ext cx="347472" cy="201168"/>
          </a:xfrm>
          <a:prstGeom prst="diamond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결정(Decision)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1371600" y="7598664"/>
            <a:ext cx="347472" cy="201168"/>
          </a:xfrm>
          <a:prstGeom prst="parallelogram">
            <a:avLst/>
          </a:prstGeom>
          <a:solidFill>
            <a:srgbClr val="EFE4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6479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입력/출력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⑦ 채팅 / 알림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7448" y="1005840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 dirty="0" err="1">
                <a:solidFill>
                  <a:srgbClr val="1F2937"/>
                </a:solidFill>
                <a:latin typeface="맑은 고딕"/>
              </a:rPr>
              <a:t>채팅</a:t>
            </a:r>
            <a:r>
              <a:rPr sz="900" b="0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900" b="0" dirty="0" err="1">
                <a:solidFill>
                  <a:srgbClr val="1F2937"/>
                </a:solidFill>
                <a:latin typeface="맑은 고딕"/>
              </a:rPr>
              <a:t>알림</a:t>
            </a:r>
            <a:r>
              <a:rPr sz="9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1F2937"/>
                </a:solidFill>
                <a:latin typeface="맑은 고딕"/>
              </a:rPr>
              <a:t>진입</a:t>
            </a:r>
            <a:endParaRPr sz="900" b="0" dirty="0">
              <a:solidFill>
                <a:srgbClr val="1F2937"/>
              </a:solidFill>
              <a:latin typeface="맑은 고딕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099048" y="1389888"/>
            <a:ext cx="0" cy="18288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iamond 5"/>
          <p:cNvSpPr/>
          <p:nvPr/>
        </p:nvSpPr>
        <p:spPr>
          <a:xfrm>
            <a:off x="4727448" y="1572768"/>
            <a:ext cx="2743200" cy="6583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로그인됨?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70648" y="1901952"/>
            <a:ext cx="1554480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16368" y="171907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F4444"/>
                </a:solidFill>
                <a:latin typeface="맑은 고딕"/>
              </a:rPr>
              <a:t>No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5128" y="1709928"/>
            <a:ext cx="2011680" cy="384048"/>
          </a:xfrm>
          <a:prstGeom prst="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50" b="0">
                <a:solidFill>
                  <a:srgbClr val="0F766E"/>
                </a:solidFill>
                <a:latin typeface="맑은 고딕"/>
              </a:rPr>
              <a:t>→ 로그인 화면</a:t>
            </a:r>
          </a:p>
          <a:p>
            <a:pPr algn="ctr"/>
            <a:r>
              <a:rPr sz="850" b="0">
                <a:solidFill>
                  <a:srgbClr val="0F766E"/>
                </a:solidFill>
                <a:latin typeface="맑은 고딕"/>
              </a:rPr>
              <a:t>(슬라이드 2 참고)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8" y="2231136"/>
            <a:ext cx="0" cy="201168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44768" y="2258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6A34A"/>
                </a:solidFill>
                <a:latin typeface="맑은 고딕"/>
              </a:rPr>
              <a:t>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7448" y="2432304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채팅 / 알림 목록</a:t>
            </a:r>
          </a:p>
        </p:txBody>
      </p:sp>
      <p:cxnSp>
        <p:nvCxnSpPr>
          <p:cNvPr id="13" name="Connector 12"/>
          <p:cNvCxnSpPr>
            <a:cxnSpLocks/>
            <a:stCxn id="14" idx="0"/>
          </p:cNvCxnSpPr>
          <p:nvPr/>
        </p:nvCxnSpPr>
        <p:spPr>
          <a:xfrm flipV="1">
            <a:off x="6099048" y="2816352"/>
            <a:ext cx="0" cy="292608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4727448" y="3108960"/>
            <a:ext cx="2743200" cy="6583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조회 항목?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840480" y="3438144"/>
            <a:ext cx="886968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26764" y="3246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dirty="0" err="1">
                <a:solidFill>
                  <a:srgbClr val="6B7280"/>
                </a:solidFill>
                <a:latin typeface="맑은 고딕"/>
              </a:rPr>
              <a:t>채팅</a:t>
            </a:r>
            <a:endParaRPr sz="850" b="0" dirty="0">
              <a:solidFill>
                <a:srgbClr val="6B7280"/>
              </a:solidFill>
              <a:latin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11680" y="3246120"/>
            <a:ext cx="18288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채팅하기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(UC-21)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70648" y="3438144"/>
            <a:ext cx="850392" cy="0"/>
          </a:xfrm>
          <a:prstGeom prst="line">
            <a:avLst/>
          </a:prstGeom>
          <a:ln w="15240">
            <a:solidFill>
              <a:srgbClr val="6B72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16368" y="32552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맑은 고딕"/>
              </a:rPr>
              <a:t>알림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3246120"/>
            <a:ext cx="19202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알림 수신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(UC-25~27)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7" y="6922008"/>
            <a:ext cx="3749039" cy="1170432"/>
          </a:xfrm>
          <a:prstGeom prst="rect">
            <a:avLst/>
          </a:prstGeom>
          <a:solidFill>
            <a:srgbClr val="F9FAFB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7160" y="69585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2937"/>
                </a:solidFill>
                <a:latin typeface="맑은 고딕"/>
              </a:rPr>
              <a:t>범례 (Legend)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" y="7196328"/>
            <a:ext cx="347472" cy="201168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시작/종료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7196328"/>
            <a:ext cx="347472" cy="2011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6479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페이지/완료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7196328"/>
            <a:ext cx="347472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99232" y="7205472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처리(Process)</a:t>
            </a:r>
          </a:p>
        </p:txBody>
      </p:sp>
      <p:sp>
        <p:nvSpPr>
          <p:cNvPr id="29" name="Diamond 28"/>
          <p:cNvSpPr/>
          <p:nvPr/>
        </p:nvSpPr>
        <p:spPr>
          <a:xfrm>
            <a:off x="137160" y="7598664"/>
            <a:ext cx="347472" cy="201168"/>
          </a:xfrm>
          <a:prstGeom prst="diamond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결정(Decision)</a:t>
            </a:r>
          </a:p>
        </p:txBody>
      </p:sp>
      <p:sp>
        <p:nvSpPr>
          <p:cNvPr id="31" name="Parallelogram 30"/>
          <p:cNvSpPr/>
          <p:nvPr/>
        </p:nvSpPr>
        <p:spPr>
          <a:xfrm>
            <a:off x="1371600" y="7598664"/>
            <a:ext cx="347472" cy="201168"/>
          </a:xfrm>
          <a:prstGeom prst="parallelogram">
            <a:avLst/>
          </a:prstGeom>
          <a:solidFill>
            <a:srgbClr val="EFE4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764792" y="7607808"/>
            <a:ext cx="804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맑은 고딕"/>
              </a:rPr>
              <a:t>입력/출력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613</Words>
  <Application>Microsoft Office PowerPoint</Application>
  <PresentationFormat>사용자 지정</PresentationFormat>
  <Paragraphs>176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혜진 김</cp:lastModifiedBy>
  <cp:revision>2</cp:revision>
  <dcterms:created xsi:type="dcterms:W3CDTF">2013-01-27T09:14:16Z</dcterms:created>
  <dcterms:modified xsi:type="dcterms:W3CDTF">2026-04-25T14:38:08Z</dcterms:modified>
  <cp:category/>
</cp:coreProperties>
</file>